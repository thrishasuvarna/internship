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13"/>
  </p:notesMasterIdLst>
  <p:sldIdLst>
    <p:sldId id="256" r:id="rId2"/>
    <p:sldId id="265" r:id="rId3"/>
    <p:sldId id="263" r:id="rId4"/>
    <p:sldId id="257" r:id="rId5"/>
    <p:sldId id="261" r:id="rId6"/>
    <p:sldId id="264" r:id="rId7"/>
    <p:sldId id="259" r:id="rId8"/>
    <p:sldId id="267" r:id="rId9"/>
    <p:sldId id="262" r:id="rId10"/>
    <p:sldId id="268" r:id="rId11"/>
    <p:sldId id="269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 showGuides="1">
      <p:cViewPr varScale="1">
        <p:scale>
          <a:sx n="88" d="100"/>
          <a:sy n="88" d="100"/>
        </p:scale>
        <p:origin x="494" y="8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AFAF471-601B-4CC2-A64E-4EA05E456D16}" type="datetimeFigureOut">
              <a:rPr lang="en-IN" smtClean="0"/>
              <a:t>09-03-2026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06B9BF0-8FF8-4582-BD18-75AD20D40D4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690305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533400" y="763588"/>
            <a:ext cx="6704013" cy="37719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algn="r">
              <a:buNone/>
            </a:pPr>
            <a:fld id="{5669839B-A827-44CD-8C4E-2267E88799EA}" type="slidenum">
              <a:rPr lang="en-IN" sz="1400" b="0" strike="noStrike" spc="-1" smtClean="0">
                <a:latin typeface="Times New Roman"/>
              </a:rPr>
              <a:t>6</a:t>
            </a:fld>
            <a:endParaRPr lang="en-IN" sz="14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97517724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3/9/2026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3/9/2026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3/9/2026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3/9/2026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58" r:id="rId15"/>
    <p:sldLayoutId id="2147483659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1801" y="1799591"/>
            <a:ext cx="10273047" cy="827315"/>
          </a:xfrm>
        </p:spPr>
        <p:txBody>
          <a:bodyPr>
            <a:normAutofit fontScale="90000"/>
          </a:bodyPr>
          <a:lstStyle/>
          <a:p>
            <a:pPr algn="ctr"/>
            <a:r>
              <a:rPr lang="en-I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Smart Lending </a:t>
            </a:r>
            <a:r>
              <a:rPr lang="en-IN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Optimization System</a:t>
            </a:r>
            <a:endParaRPr lang="en-IN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004680" y="2738144"/>
            <a:ext cx="2087290" cy="378095"/>
          </a:xfrm>
        </p:spPr>
        <p:txBody>
          <a:bodyPr>
            <a:noAutofit/>
          </a:bodyPr>
          <a:lstStyle/>
          <a:p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Finance Sector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3057141" y="879709"/>
            <a:ext cx="5982366" cy="68783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Phase 1 - Presentation</a:t>
            </a:r>
            <a:endParaRPr lang="en-IN" sz="28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8969838" y="4676727"/>
            <a:ext cx="2621270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Dilan B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Karthik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Prajna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K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hrisha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Sadeem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Abdul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Khader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974749" y="4237111"/>
            <a:ext cx="179856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Team Members: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18469" y="-62222"/>
            <a:ext cx="2673531" cy="17823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75229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 idx="4294967295"/>
          </p:nvPr>
        </p:nvSpPr>
        <p:spPr>
          <a:xfrm>
            <a:off x="1762680" y="185400"/>
            <a:ext cx="8719200" cy="956880"/>
          </a:xfrm>
          <a:prstGeom prst="rect">
            <a:avLst/>
          </a:prstGeom>
          <a:noFill/>
          <a:ln w="0">
            <a:noFill/>
          </a:ln>
        </p:spPr>
        <p:txBody>
          <a:bodyPr vert="horz" lIns="90000" tIns="45000" rIns="90000" bIns="45000" numCol="1" spcCol="0" rtlCol="0" anchor="ctr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5400" b="1" spc="-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Contents</a:t>
            </a:r>
            <a:endParaRPr lang="en-IN" sz="5400" spc="-1" dirty="0">
              <a:solidFill>
                <a:srgbClr val="00B0F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idx="4294967295"/>
          </p:nvPr>
        </p:nvSpPr>
        <p:spPr>
          <a:xfrm>
            <a:off x="2111023" y="1253452"/>
            <a:ext cx="8719200" cy="4740480"/>
          </a:xfrm>
          <a:prstGeom prst="rect">
            <a:avLst/>
          </a:prstGeom>
          <a:noFill/>
          <a:ln w="0">
            <a:noFill/>
          </a:ln>
        </p:spPr>
        <p:txBody>
          <a:bodyPr vert="horz" lIns="90000" tIns="45000" rIns="90000" bIns="45000" numCol="1" spcCol="0" rtlCol="0" anchor="t">
            <a:noAutofit/>
          </a:bodyPr>
          <a:lstStyle/>
          <a:p>
            <a:pPr algn="just">
              <a:lnSpc>
                <a:spcPct val="100000"/>
              </a:lnSpc>
              <a:spcBef>
                <a:spcPts val="479"/>
              </a:spcBef>
              <a:buNone/>
            </a:pPr>
            <a:endParaRPr lang="en-IN" sz="2400" spc="-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00000"/>
              </a:lnSpc>
              <a:spcBef>
                <a:spcPts val="479"/>
              </a:spcBef>
              <a:buClr>
                <a:srgbClr val="3333CC"/>
              </a:buClr>
            </a:pPr>
            <a:r>
              <a:rPr lang="en-US" sz="2400" spc="-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  <a:p>
            <a:pPr algn="just">
              <a:lnSpc>
                <a:spcPct val="100000"/>
              </a:lnSpc>
              <a:spcBef>
                <a:spcPts val="479"/>
              </a:spcBef>
              <a:buClr>
                <a:srgbClr val="3333CC"/>
              </a:buClr>
            </a:pPr>
            <a:r>
              <a:rPr lang="en-US" sz="2400" spc="-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  <a:endParaRPr lang="en-US" sz="2400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00000"/>
              </a:lnSpc>
              <a:spcBef>
                <a:spcPts val="479"/>
              </a:spcBef>
              <a:buClr>
                <a:srgbClr val="3333CC"/>
              </a:buClr>
            </a:pPr>
            <a:r>
              <a:rPr lang="en-US" sz="2400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  <a:endParaRPr lang="en-IN" sz="2400" spc="-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00000"/>
              </a:lnSpc>
              <a:spcBef>
                <a:spcPts val="479"/>
              </a:spcBef>
              <a:buClr>
                <a:srgbClr val="3333CC"/>
              </a:buClr>
            </a:pPr>
            <a:r>
              <a:rPr lang="en-US" sz="2400" spc="-1" dirty="0">
                <a:solidFill>
                  <a:srgbClr val="000000"/>
                </a:solidFill>
                <a:latin typeface="Times New Roman" panose="02020603050405020304" pitchFamily="18" charset="0"/>
                <a:ea typeface="Helvetica;Arial"/>
                <a:cs typeface="Times New Roman" panose="02020603050405020304" pitchFamily="18" charset="0"/>
              </a:rPr>
              <a:t>Literature </a:t>
            </a:r>
            <a:r>
              <a:rPr lang="en-US" sz="2400" spc="-1" dirty="0" smtClean="0">
                <a:solidFill>
                  <a:srgbClr val="000000"/>
                </a:solidFill>
                <a:latin typeface="Times New Roman" panose="02020603050405020304" pitchFamily="18" charset="0"/>
                <a:ea typeface="Helvetica;Arial"/>
                <a:cs typeface="Times New Roman" panose="02020603050405020304" pitchFamily="18" charset="0"/>
              </a:rPr>
              <a:t>review</a:t>
            </a:r>
            <a:endParaRPr lang="en-US" sz="2400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00000"/>
              </a:lnSpc>
              <a:spcBef>
                <a:spcPts val="479"/>
              </a:spcBef>
              <a:buClr>
                <a:srgbClr val="3333CC"/>
              </a:buClr>
            </a:pPr>
            <a:r>
              <a:rPr lang="en-US" sz="2400" spc="-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Expected Outcomes</a:t>
            </a:r>
            <a:endParaRPr lang="en-US" sz="2400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00000"/>
              </a:lnSpc>
              <a:spcBef>
                <a:spcPts val="479"/>
              </a:spcBef>
              <a:buClr>
                <a:srgbClr val="3333CC"/>
              </a:buClr>
            </a:pPr>
            <a:r>
              <a:rPr lang="en-US" sz="2400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 </a:t>
            </a:r>
            <a:endParaRPr lang="en-IN" sz="2400" spc="-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00000"/>
              </a:lnSpc>
              <a:spcBef>
                <a:spcPts val="479"/>
              </a:spcBef>
              <a:buClr>
                <a:srgbClr val="3333CC"/>
              </a:buClr>
            </a:pPr>
            <a:r>
              <a:rPr lang="en-US" sz="2400" spc="-1" dirty="0">
                <a:solidFill>
                  <a:srgbClr val="000000"/>
                </a:solidFill>
                <a:latin typeface="Times New Roman" panose="02020603050405020304" pitchFamily="18" charset="0"/>
                <a:ea typeface="Helvetica;Arial"/>
                <a:cs typeface="Times New Roman" panose="02020603050405020304" pitchFamily="18" charset="0"/>
              </a:rPr>
              <a:t>References</a:t>
            </a:r>
            <a:endParaRPr lang="en-IN" sz="2400" spc="-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18469" y="-62222"/>
            <a:ext cx="2673531" cy="17823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02277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37869" y="371562"/>
            <a:ext cx="3912378" cy="795387"/>
          </a:xfrm>
        </p:spPr>
        <p:txBody>
          <a:bodyPr>
            <a:normAutofit fontScale="90000"/>
          </a:bodyPr>
          <a:lstStyle/>
          <a:p>
            <a:pPr algn="ctr"/>
            <a:r>
              <a:rPr lang="en-US" sz="5400" b="1" dirty="0" smtClean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IN" sz="5400" b="1" dirty="0">
              <a:solidFill>
                <a:srgbClr val="00B0F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18941" y="1532708"/>
            <a:ext cx="9594088" cy="4284617"/>
          </a:xfrm>
        </p:spPr>
        <p:txBody>
          <a:bodyPr>
            <a:noAutofit/>
          </a:bodyPr>
          <a:lstStyle/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Smart Lending Optimization System is designed to improve the process of loan approval in financial institutions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helps banks evaluate whether a customer is eligible to receive a loan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credit scoring methods mainly use past financial data such as income and credit history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These traditional methods may not work well with large and complex datasets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Therefore, this project uses Artificial Intelligence (AI) and Machine Learning (ML) techniques to improve the accuracy of credit risk prediction and support better lending decisions. 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18469" y="-62222"/>
            <a:ext cx="2673531" cy="17823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31961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88499" y="458647"/>
            <a:ext cx="5906641" cy="917307"/>
          </a:xfrm>
        </p:spPr>
        <p:txBody>
          <a:bodyPr>
            <a:normAutofit/>
          </a:bodyPr>
          <a:lstStyle/>
          <a:p>
            <a:pPr algn="ctr"/>
            <a:r>
              <a:rPr lang="en-US" sz="5400" b="1" dirty="0" smtClean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  <a:endParaRPr lang="en-IN" sz="5400" b="1" dirty="0">
              <a:solidFill>
                <a:srgbClr val="00B0F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84119" y="2133600"/>
            <a:ext cx="9550531" cy="3777622"/>
          </a:xfrm>
        </p:spPr>
        <p:txBody>
          <a:bodyPr>
            <a:normAutofit lnSpcReduction="10000"/>
          </a:bodyPr>
          <a:lstStyle/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credit scoring systems mainly depend on limited financial data such as income and credit history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These systems cannot effectively handle large and complex datasets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Many individuals with little or no credit history are often rejected for loans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can lead to inaccurate credit risk assessment and poor lending decisions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Therefore, a smart system is needed to improve credit risk prediction using machine learning techniques.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18469" y="-62222"/>
            <a:ext cx="2673531" cy="17823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96996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38320" y="493482"/>
            <a:ext cx="3360945" cy="786679"/>
          </a:xfrm>
        </p:spPr>
        <p:txBody>
          <a:bodyPr>
            <a:noAutofit/>
          </a:bodyPr>
          <a:lstStyle/>
          <a:p>
            <a:pPr algn="ctr"/>
            <a:r>
              <a:rPr lang="en-US" sz="5400" b="1" spc="-1" dirty="0">
                <a:solidFill>
                  <a:srgbClr val="00B0F0"/>
                </a:solidFill>
                <a:latin typeface="Times New Roman"/>
                <a:ea typeface="Noto Sans CJK SC"/>
              </a:rPr>
              <a:t>Objectives</a:t>
            </a:r>
            <a:endParaRPr lang="en-IN" sz="5400" dirty="0">
              <a:solidFill>
                <a:srgbClr val="00B0F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75406" y="2133600"/>
            <a:ext cx="8915400" cy="3777622"/>
          </a:xfrm>
        </p:spPr>
        <p:txBody>
          <a:bodyPr>
            <a:normAutofit/>
          </a:bodyPr>
          <a:lstStyle/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 borrower credit risk using machine learning.</a:t>
            </a: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 loan decision accuracy.</a:t>
            </a: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Analyze borrower financial data.</a:t>
            </a: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 optimized loan recommendations.</a:t>
            </a: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 transparency in lending decisions.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18469" y="-62222"/>
            <a:ext cx="2673531" cy="17823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46715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PlaceHolder 1"/>
          <p:cNvSpPr>
            <a:spLocks noGrp="1"/>
          </p:cNvSpPr>
          <p:nvPr>
            <p:ph type="title" idx="4294967295"/>
          </p:nvPr>
        </p:nvSpPr>
        <p:spPr>
          <a:xfrm>
            <a:off x="3706266" y="139337"/>
            <a:ext cx="5455150" cy="618840"/>
          </a:xfrm>
          <a:prstGeom prst="rect">
            <a:avLst/>
          </a:prstGeom>
          <a:noFill/>
          <a:ln w="0">
            <a:noFill/>
          </a:ln>
        </p:spPr>
        <p:txBody>
          <a:bodyPr vert="horz" lIns="0" tIns="0" rIns="0" bIns="0" numCol="1" spcCol="0" rtlCol="0" anchor="t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5400" b="1" spc="-1" dirty="0">
                <a:solidFill>
                  <a:srgbClr val="00B0F0"/>
                </a:solidFill>
                <a:latin typeface="Times New Roman" panose="02020603050405020304" pitchFamily="18" charset="0"/>
                <a:ea typeface="Noto Sans CJK SC"/>
                <a:cs typeface="Times New Roman" panose="02020603050405020304" pitchFamily="18" charset="0"/>
              </a:rPr>
              <a:t>Literature Review</a:t>
            </a:r>
            <a:endParaRPr lang="en-IN" sz="5400" spc="-1" dirty="0">
              <a:solidFill>
                <a:srgbClr val="00B0F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4294967295"/>
          </p:nvPr>
        </p:nvSpPr>
        <p:spPr>
          <a:xfrm>
            <a:off x="8077080" y="6392520"/>
            <a:ext cx="1904400" cy="456480"/>
          </a:xfrm>
          <a:prstGeom prst="rect">
            <a:avLst/>
          </a:prstGeom>
        </p:spPr>
        <p:txBody>
          <a:bodyPr/>
          <a:lstStyle/>
          <a:p>
            <a:fld id="{8D8FC85B-A9C2-49E1-B82A-D438402C3EBB}" type="slidenum"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fld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27692576"/>
              </p:ext>
            </p:extLst>
          </p:nvPr>
        </p:nvGraphicFramePr>
        <p:xfrm>
          <a:off x="1574920" y="1087401"/>
          <a:ext cx="9717843" cy="56113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20457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536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5965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31083">
                <a:tc>
                  <a:txBody>
                    <a:bodyPr/>
                    <a:lstStyle/>
                    <a:p>
                      <a:pPr algn="just"/>
                      <a:r>
                        <a:rPr lang="en-US" sz="1800" dirty="0" smtClean="0">
                          <a:latin typeface="Times New Roman" pitchFamily="18" charset="0"/>
                          <a:cs typeface="Times New Roman" pitchFamily="18" charset="0"/>
                        </a:rPr>
                        <a:t>Title</a:t>
                      </a:r>
                      <a:endParaRPr lang="en-US" sz="1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800" dirty="0" smtClean="0">
                          <a:latin typeface="Times New Roman" pitchFamily="18" charset="0"/>
                          <a:cs typeface="Times New Roman" pitchFamily="18" charset="0"/>
                        </a:rPr>
                        <a:t>Authors</a:t>
                      </a:r>
                      <a:endParaRPr lang="en-US" sz="1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800" dirty="0" smtClean="0">
                          <a:latin typeface="Times New Roman" pitchFamily="18" charset="0"/>
                          <a:cs typeface="Times New Roman" pitchFamily="18" charset="0"/>
                        </a:rPr>
                        <a:t>Description</a:t>
                      </a:r>
                      <a:endParaRPr lang="en-US" sz="1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58431">
                <a:tc>
                  <a:txBody>
                    <a:bodyPr/>
                    <a:lstStyle/>
                    <a:p>
                      <a:pPr algn="just"/>
                      <a:r>
                        <a:rPr lang="en-US" sz="1800" dirty="0" smtClean="0">
                          <a:latin typeface="Times New Roman" pitchFamily="18" charset="0"/>
                          <a:cs typeface="Times New Roman" pitchFamily="18" charset="0"/>
                        </a:rPr>
                        <a:t>Alternative Data in Finance and Business: Emerging Applications and Theory Analysis[1]</a:t>
                      </a:r>
                      <a:endParaRPr lang="en-US" sz="1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 err="1" smtClean="0">
                          <a:latin typeface="Times New Roman" pitchFamily="18" charset="0"/>
                          <a:cs typeface="Times New Roman" pitchFamily="18" charset="0"/>
                        </a:rPr>
                        <a:t>Yunchuan</a:t>
                      </a:r>
                      <a:r>
                        <a:rPr lang="en-US" sz="1800" dirty="0" smtClean="0">
                          <a:latin typeface="Times New Roman" pitchFamily="18" charset="0"/>
                          <a:cs typeface="Times New Roman" pitchFamily="18" charset="0"/>
                        </a:rPr>
                        <a:t> Sun et al. [2024]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dirty="0" smtClean="0">
                          <a:latin typeface="Times New Roman" pitchFamily="18" charset="0"/>
                          <a:cs typeface="Times New Roman" pitchFamily="18" charset="0"/>
                        </a:rPr>
                        <a:t>Review of alternative data sources (behavioral, transaction, sensor data) applied to credit evaluation, risk prediction, and financial decision-making.</a:t>
                      </a:r>
                      <a:endParaRPr lang="en-US" sz="1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87839">
                <a:tc>
                  <a:txBody>
                    <a:bodyPr/>
                    <a:lstStyle/>
                    <a:p>
                      <a:pPr algn="just"/>
                      <a:r>
                        <a:rPr lang="en-US" dirty="0" smtClean="0">
                          <a:latin typeface="Times New Roman" pitchFamily="18" charset="0"/>
                          <a:cs typeface="Times New Roman" pitchFamily="18" charset="0"/>
                        </a:rPr>
                        <a:t>A Dimension Reduction Assisted Credit Scoring Method for Big Data with Categorical Features[2]</a:t>
                      </a:r>
                    </a:p>
                    <a:p>
                      <a:pPr algn="just"/>
                      <a:endParaRPr lang="en-US" sz="1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b="0" dirty="0" err="1" smtClean="0">
                          <a:latin typeface="Times New Roman" pitchFamily="18" charset="0"/>
                          <a:cs typeface="Times New Roman" pitchFamily="18" charset="0"/>
                        </a:rPr>
                        <a:t>Tatjana</a:t>
                      </a:r>
                      <a:r>
                        <a:rPr lang="en-US" b="0" dirty="0" smtClean="0"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en-US" b="0" dirty="0" err="1" smtClean="0">
                          <a:latin typeface="Times New Roman" pitchFamily="18" charset="0"/>
                          <a:cs typeface="Times New Roman" pitchFamily="18" charset="0"/>
                        </a:rPr>
                        <a:t>Miljkovic</a:t>
                      </a:r>
                      <a:r>
                        <a:rPr lang="en-US" b="0" dirty="0" smtClean="0">
                          <a:latin typeface="Times New Roman" pitchFamily="18" charset="0"/>
                          <a:cs typeface="Times New Roman" pitchFamily="18" charset="0"/>
                        </a:rPr>
                        <a:t> &amp; Pei Wang [2025]</a:t>
                      </a:r>
                      <a:endParaRPr lang="en-US" sz="1800" b="1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dirty="0" smtClean="0">
                          <a:latin typeface="Times New Roman" pitchFamily="18" charset="0"/>
                          <a:cs typeface="Times New Roman" pitchFamily="18" charset="0"/>
                        </a:rPr>
                        <a:t>DRA-CS method using DCOV-SDR for sufficient dimension reduction combined with logistic regression.</a:t>
                      </a:r>
                      <a:endParaRPr lang="en-US" sz="1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70880">
                <a:tc>
                  <a:txBody>
                    <a:bodyPr/>
                    <a:lstStyle/>
                    <a:p>
                      <a:pPr algn="just"/>
                      <a:r>
                        <a:rPr lang="en-US" b="0" dirty="0" smtClean="0">
                          <a:latin typeface="Times New Roman" pitchFamily="18" charset="0"/>
                          <a:cs typeface="Times New Roman" pitchFamily="18" charset="0"/>
                        </a:rPr>
                        <a:t>A Novel Augmentation Strategy for Credit Scoring Modeling[3]</a:t>
                      </a:r>
                      <a:endParaRPr lang="en-US" b="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it-IT" b="0" dirty="0" smtClean="0">
                          <a:latin typeface="Times New Roman" pitchFamily="18" charset="0"/>
                          <a:cs typeface="Times New Roman" pitchFamily="18" charset="0"/>
                        </a:rPr>
                        <a:t>Valerio La Gatta et al. [2025]</a:t>
                      </a:r>
                      <a:endParaRPr lang="en-US" b="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b="0" dirty="0" smtClean="0">
                          <a:latin typeface="Times New Roman" pitchFamily="18" charset="0"/>
                          <a:cs typeface="Times New Roman" pitchFamily="18" charset="0"/>
                        </a:rPr>
                        <a:t>Data augmentation using Explainable AI (CASTLE) to generate synthetic instances along decision boundaries for imbalanced datasets..</a:t>
                      </a:r>
                      <a:endParaRPr lang="en-US" b="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18469" y="-62222"/>
            <a:ext cx="2673531" cy="17823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82094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12265951"/>
              </p:ext>
            </p:extLst>
          </p:nvPr>
        </p:nvGraphicFramePr>
        <p:xfrm>
          <a:off x="1682259" y="1696665"/>
          <a:ext cx="9595340" cy="3492137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17085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216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9028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029097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0" dirty="0" smtClean="0">
                          <a:latin typeface="Times New Roman" pitchFamily="18" charset="0"/>
                          <a:cs typeface="Times New Roman" pitchFamily="18" charset="0"/>
                        </a:rPr>
                        <a:t>Evaluating AI-Driven Credit Scoring Models versus Traditional Statistical Techniques [4]</a:t>
                      </a:r>
                      <a:endParaRPr lang="en-US" b="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it-IT" b="0" dirty="0" smtClean="0">
                          <a:latin typeface="Times New Roman" pitchFamily="18" charset="0"/>
                          <a:cs typeface="Times New Roman" pitchFamily="18" charset="0"/>
                        </a:rPr>
                        <a:t>Dipak S. Vakrani et al. [2026]</a:t>
                      </a:r>
                      <a:endParaRPr lang="en-US" b="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Times New Roman" pitchFamily="18" charset="0"/>
                          <a:cs typeface="Times New Roman" pitchFamily="18" charset="0"/>
                        </a:rPr>
                        <a:t>Comparative study of Logistic Regression, Decision Tree, </a:t>
                      </a:r>
                      <a:r>
                        <a:rPr lang="en-US" dirty="0" err="1" smtClean="0">
                          <a:latin typeface="Times New Roman" pitchFamily="18" charset="0"/>
                          <a:cs typeface="Times New Roman" pitchFamily="18" charset="0"/>
                        </a:rPr>
                        <a:t>XGBoost</a:t>
                      </a:r>
                      <a:r>
                        <a:rPr lang="en-US" dirty="0" smtClean="0">
                          <a:latin typeface="Times New Roman" pitchFamily="18" charset="0"/>
                          <a:cs typeface="Times New Roman" pitchFamily="18" charset="0"/>
                        </a:rPr>
                        <a:t>, and Neural Networks with SHAP-based </a:t>
                      </a:r>
                      <a:r>
                        <a:rPr lang="en-US" dirty="0" err="1" smtClean="0">
                          <a:latin typeface="Times New Roman" pitchFamily="18" charset="0"/>
                          <a:cs typeface="Times New Roman" pitchFamily="18" charset="0"/>
                        </a:rPr>
                        <a:t>explainability</a:t>
                      </a:r>
                      <a:r>
                        <a:rPr lang="en-US" dirty="0" smtClean="0">
                          <a:latin typeface="Times New Roman" pitchFamily="18" charset="0"/>
                          <a:cs typeface="Times New Roman" pitchFamily="18" charset="0"/>
                        </a:rPr>
                        <a:t> and stress testing.</a:t>
                      </a:r>
                      <a:endParaRPr lang="en-US" b="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56803">
                <a:tc>
                  <a:txBody>
                    <a:bodyPr/>
                    <a:lstStyle/>
                    <a:p>
                      <a:pPr algn="just"/>
                      <a:r>
                        <a:rPr lang="en-US" b="0" dirty="0" smtClean="0">
                          <a:latin typeface="Times New Roman" pitchFamily="18" charset="0"/>
                          <a:cs typeface="Times New Roman" pitchFamily="18" charset="0"/>
                        </a:rPr>
                        <a:t>Machine Learning Powered Financial Credit Scoring: A Systematic Literature Review[5]</a:t>
                      </a:r>
                      <a:endParaRPr lang="en-US" b="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 err="1" smtClean="0">
                          <a:latin typeface="Times New Roman" pitchFamily="18" charset="0"/>
                          <a:cs typeface="Times New Roman" pitchFamily="18" charset="0"/>
                        </a:rPr>
                        <a:t>Helmi</a:t>
                      </a:r>
                      <a:r>
                        <a:rPr lang="en-US" b="0" dirty="0" smtClean="0"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en-US" b="0" dirty="0" err="1" smtClean="0">
                          <a:latin typeface="Times New Roman" pitchFamily="18" charset="0"/>
                          <a:cs typeface="Times New Roman" pitchFamily="18" charset="0"/>
                        </a:rPr>
                        <a:t>Ayari</a:t>
                      </a:r>
                      <a:r>
                        <a:rPr lang="en-US" b="0" dirty="0" smtClean="0">
                          <a:latin typeface="Times New Roman" pitchFamily="18" charset="0"/>
                          <a:cs typeface="Times New Roman" pitchFamily="18" charset="0"/>
                        </a:rPr>
                        <a:t> et al. [2026]</a:t>
                      </a:r>
                      <a:endParaRPr lang="en-US" b="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 smtClean="0">
                          <a:latin typeface="Times New Roman" pitchFamily="18" charset="0"/>
                          <a:cs typeface="Times New Roman" pitchFamily="18" charset="0"/>
                        </a:rPr>
                        <a:t>Systematic review of ML, DL, and ensemble learning models used in credit scoring (2018–2024)</a:t>
                      </a:r>
                      <a:endParaRPr lang="en-US" b="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3" name="PlaceHolder 1"/>
          <p:cNvSpPr>
            <a:spLocks noGrp="1"/>
          </p:cNvSpPr>
          <p:nvPr>
            <p:ph type="title"/>
          </p:nvPr>
        </p:nvSpPr>
        <p:spPr>
          <a:xfrm>
            <a:off x="3184601" y="128591"/>
            <a:ext cx="6590657" cy="618840"/>
          </a:xfrm>
          <a:prstGeom prst="rect">
            <a:avLst/>
          </a:prstGeom>
          <a:noFill/>
          <a:ln w="0">
            <a:noFill/>
          </a:ln>
        </p:spPr>
        <p:txBody>
          <a:bodyPr vert="horz" lIns="0" tIns="0" rIns="0" bIns="0" numCol="1" spcCol="0" rtlCol="0" anchor="t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b="1" spc="-1" dirty="0">
                <a:solidFill>
                  <a:srgbClr val="00B0F0"/>
                </a:solidFill>
                <a:latin typeface="Times New Roman"/>
                <a:ea typeface="Noto Sans CJK SC"/>
              </a:rPr>
              <a:t>Literature Review</a:t>
            </a:r>
            <a:endParaRPr lang="en-IN" spc="-1" dirty="0">
              <a:solidFill>
                <a:srgbClr val="00B0F0"/>
              </a:solidFill>
              <a:latin typeface="Arial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18469" y="-62222"/>
            <a:ext cx="2673531" cy="17823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51627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23110" y="1524000"/>
            <a:ext cx="10731008" cy="4625788"/>
          </a:xfrm>
        </p:spPr>
        <p:txBody>
          <a:bodyPr>
            <a:noAutofit/>
          </a:bodyPr>
          <a:lstStyle/>
          <a:p>
            <a:pPr algn="just"/>
            <a:r>
              <a:rPr lang="en-US" altLang="en-US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Credit </a:t>
            </a:r>
            <a:r>
              <a:rPr lang="en-US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Risk Prediction</a:t>
            </a:r>
            <a:r>
              <a:rPr lang="en-US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– The system will classify borrowers into low, medium, and high risk using machine learning </a:t>
            </a:r>
            <a:r>
              <a:rPr lang="en-US" altLang="en-US" sz="24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models.</a:t>
            </a:r>
          </a:p>
          <a:p>
            <a:pPr algn="just"/>
            <a:r>
              <a:rPr lang="en-US" altLang="en-US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Improved </a:t>
            </a:r>
            <a:r>
              <a:rPr lang="en-US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Loan Approval Process</a:t>
            </a:r>
            <a:r>
              <a:rPr lang="en-US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– Automated credit evaluation reduces manual work and speeds up loan </a:t>
            </a:r>
            <a:r>
              <a:rPr lang="en-US" altLang="en-US" sz="24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processing.</a:t>
            </a:r>
          </a:p>
          <a:p>
            <a:pPr algn="just"/>
            <a:r>
              <a:rPr lang="en-US" altLang="en-US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Financial </a:t>
            </a:r>
            <a:r>
              <a:rPr lang="en-US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Inclusion</a:t>
            </a:r>
            <a:r>
              <a:rPr lang="en-US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– Individuals without traditional credit history can still be evaluated using alternative financial </a:t>
            </a:r>
            <a:r>
              <a:rPr lang="en-US" altLang="en-US" sz="24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data.</a:t>
            </a:r>
          </a:p>
          <a:p>
            <a:pPr algn="just"/>
            <a:r>
              <a:rPr lang="en-US" altLang="en-US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Smart </a:t>
            </a:r>
            <a:r>
              <a:rPr lang="en-US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Loan Recommendations</a:t>
            </a:r>
            <a:r>
              <a:rPr lang="en-US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– The system suggests suitable loan amounts and repayment plans based on the borrower’s </a:t>
            </a:r>
            <a:r>
              <a:rPr lang="en-US" altLang="en-US" sz="24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profile.</a:t>
            </a:r>
          </a:p>
          <a:p>
            <a:pPr algn="just"/>
            <a:r>
              <a:rPr lang="en-US" altLang="en-US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Transparent </a:t>
            </a:r>
            <a:r>
              <a:rPr lang="en-US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Decision Making</a:t>
            </a:r>
            <a:r>
              <a:rPr lang="en-US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– Explainable AI methods such as </a:t>
            </a:r>
            <a:r>
              <a:rPr lang="en-US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SHAP (</a:t>
            </a:r>
            <a:r>
              <a:rPr lang="en-US" altLang="en-US" sz="24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SHapley</a:t>
            </a:r>
            <a:r>
              <a:rPr lang="en-US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Additive </a:t>
            </a:r>
            <a:r>
              <a:rPr lang="en-US" altLang="en-US" sz="24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exPlanations</a:t>
            </a:r>
            <a:r>
              <a:rPr lang="en-US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help explain why a loan is approved or rejected.</a:t>
            </a:r>
          </a:p>
          <a:p>
            <a:pPr marL="0" indent="0" algn="just">
              <a:buNone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3194991" y="451576"/>
            <a:ext cx="6187245" cy="618840"/>
          </a:xfrm>
          <a:prstGeom prst="rect">
            <a:avLst/>
          </a:prstGeom>
          <a:noFill/>
          <a:ln w="0">
            <a:noFill/>
          </a:ln>
        </p:spPr>
        <p:txBody>
          <a:bodyPr vert="horz" lIns="0" tIns="0" rIns="0" bIns="0" numCol="1" spcCol="0" rtlCol="0" anchor="t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5400" b="1" spc="-1" dirty="0" smtClean="0">
                <a:solidFill>
                  <a:srgbClr val="00B0F0"/>
                </a:solidFill>
                <a:latin typeface="Times New Roman"/>
                <a:ea typeface="Noto Sans CJK SC"/>
              </a:rPr>
              <a:t>Expected Outcome</a:t>
            </a:r>
            <a:endParaRPr lang="en-IN" sz="5400" spc="-1" dirty="0">
              <a:solidFill>
                <a:srgbClr val="00B0F0"/>
              </a:solidFill>
              <a:latin typeface="Arial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18469" y="-62222"/>
            <a:ext cx="2673531" cy="17823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9359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62479" y="240932"/>
            <a:ext cx="4149071" cy="525422"/>
          </a:xfrm>
        </p:spPr>
        <p:txBody>
          <a:bodyPr>
            <a:noAutofit/>
          </a:bodyPr>
          <a:lstStyle/>
          <a:p>
            <a:pPr algn="just"/>
            <a:r>
              <a:rPr lang="en-US" sz="5400" b="1" spc="-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lang="en-IN" sz="5400" dirty="0">
              <a:solidFill>
                <a:srgbClr val="00B0F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79315" y="1576252"/>
            <a:ext cx="8915400" cy="3777622"/>
          </a:xfrm>
        </p:spPr>
        <p:txBody>
          <a:bodyPr>
            <a:noAutofit/>
          </a:bodyPr>
          <a:lstStyle/>
          <a:p>
            <a:pPr algn="just"/>
            <a:r>
              <a:rPr lang="en-US" altLang="en-US" sz="24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Alternative </a:t>
            </a:r>
            <a:r>
              <a:rPr lang="en-US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Credit Scoring System improves traditional credit evaluation using AI and machine learning </a:t>
            </a:r>
            <a:r>
              <a:rPr lang="en-US" altLang="en-US" sz="24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techniques.</a:t>
            </a:r>
          </a:p>
          <a:p>
            <a:pPr algn="just"/>
            <a:r>
              <a:rPr lang="en-US" altLang="en-US" sz="24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 </a:t>
            </a:r>
            <a:r>
              <a:rPr lang="en-US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helps financial institutions make better and faster lending </a:t>
            </a:r>
            <a:r>
              <a:rPr lang="en-US" altLang="en-US" sz="24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decisions.</a:t>
            </a:r>
          </a:p>
          <a:p>
            <a:pPr algn="just"/>
            <a:r>
              <a:rPr lang="en-US" altLang="en-US" sz="24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increases access to credit for underserved </a:t>
            </a:r>
            <a:r>
              <a:rPr lang="en-US" altLang="en-US" sz="24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individuals.</a:t>
            </a:r>
          </a:p>
          <a:p>
            <a:pPr algn="just"/>
            <a:r>
              <a:rPr lang="en-US" altLang="en-US" sz="24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Automated </a:t>
            </a:r>
            <a:r>
              <a:rPr lang="en-US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analysis reduces errors and improves efficiency in loan </a:t>
            </a:r>
            <a:r>
              <a:rPr lang="en-US" altLang="en-US" sz="24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assessment.</a:t>
            </a:r>
          </a:p>
          <a:p>
            <a:pPr algn="just"/>
            <a:r>
              <a:rPr lang="en-US" altLang="en-US" sz="24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Overall</a:t>
            </a:r>
            <a:r>
              <a:rPr lang="en-US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the system supports fair, transparent, and data-driven lending practices in modern financial services</a:t>
            </a:r>
            <a:r>
              <a:rPr lang="en-US" altLang="en-US" sz="24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alt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18469" y="-62222"/>
            <a:ext cx="2673531" cy="17823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62601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90871" y="275767"/>
            <a:ext cx="3712081" cy="943433"/>
          </a:xfrm>
        </p:spPr>
        <p:txBody>
          <a:bodyPr>
            <a:normAutofit/>
          </a:bodyPr>
          <a:lstStyle/>
          <a:p>
            <a:r>
              <a:rPr lang="en-US" sz="5400" b="1" dirty="0" smtClean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  <a:endParaRPr lang="en-IN" sz="5400" b="1" dirty="0">
              <a:solidFill>
                <a:srgbClr val="00B0F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59659" y="1461246"/>
            <a:ext cx="10149635" cy="4697506"/>
          </a:xfrm>
        </p:spPr>
        <p:txBody>
          <a:bodyPr>
            <a:noAutofit/>
          </a:bodyPr>
          <a:lstStyle/>
          <a:p>
            <a:pPr algn="just"/>
            <a:r>
              <a:rPr lang="en-US" altLang="en-US" sz="24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Sun</a:t>
            </a:r>
            <a:r>
              <a:rPr lang="en-US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Y., et al., “Alternative Data in Finance and Business: Emerging Applications and Theory Analysis.” </a:t>
            </a:r>
            <a:r>
              <a:rPr lang="en-US" altLang="en-US" sz="24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2024.</a:t>
            </a:r>
          </a:p>
          <a:p>
            <a:pPr algn="just"/>
            <a:r>
              <a:rPr lang="en-US" altLang="en-US" sz="2400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Miljkovic</a:t>
            </a:r>
            <a:r>
              <a:rPr lang="en-US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T., &amp; Wang, P., “A Dimension Reduction Assisted Credit Scoring Method for Big Data with Categorical Features.” </a:t>
            </a:r>
            <a:r>
              <a:rPr lang="en-US" altLang="en-US" sz="24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2025.</a:t>
            </a:r>
          </a:p>
          <a:p>
            <a:pPr algn="just"/>
            <a:r>
              <a:rPr lang="en-US" altLang="en-US" sz="24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 </a:t>
            </a:r>
            <a:r>
              <a:rPr lang="en-US" altLang="en-US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Gatta</a:t>
            </a:r>
            <a:r>
              <a:rPr lang="en-US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V., et al., “A Novel Augmentation Strategy for Credit Scoring Modeling.” </a:t>
            </a:r>
            <a:r>
              <a:rPr lang="en-US" altLang="en-US" sz="24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2025.</a:t>
            </a:r>
          </a:p>
          <a:p>
            <a:pPr algn="just"/>
            <a:r>
              <a:rPr lang="en-US" altLang="en-US" sz="2400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Vakrani</a:t>
            </a:r>
            <a:r>
              <a:rPr lang="en-US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D. S., et al., “Evaluating AI-Driven Credit Scoring Models versus Traditional Statistical Techniques.” </a:t>
            </a:r>
            <a:r>
              <a:rPr lang="en-US" altLang="en-US" sz="24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2026.</a:t>
            </a:r>
          </a:p>
          <a:p>
            <a:pPr algn="just"/>
            <a:r>
              <a:rPr lang="en-US" altLang="en-US" sz="2400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Ayari</a:t>
            </a:r>
            <a:r>
              <a:rPr lang="en-US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H., et al., “Machine Learning Powered Financial Credit Scoring: A Systematic Literature Review.” 2026</a:t>
            </a:r>
            <a:r>
              <a:rPr lang="en-US" altLang="en-US" sz="24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alt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18469" y="-62222"/>
            <a:ext cx="2673531" cy="17823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841747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72103" y="3161122"/>
            <a:ext cx="4614698" cy="1280890"/>
          </a:xfrm>
        </p:spPr>
        <p:txBody>
          <a:bodyPr>
            <a:noAutofit/>
          </a:bodyPr>
          <a:lstStyle/>
          <a:p>
            <a:r>
              <a:rPr lang="en-US" sz="5400" b="1" dirty="0" smtClean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Thank You.!!</a:t>
            </a:r>
            <a:endParaRPr lang="en-IN" sz="5400" b="1" dirty="0">
              <a:solidFill>
                <a:srgbClr val="00B0F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18469" y="-62222"/>
            <a:ext cx="2673531" cy="17823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6678723"/>
      </p:ext>
    </p:extLst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106</TotalTime>
  <Words>722</Words>
  <Application>Microsoft Office PowerPoint</Application>
  <PresentationFormat>Widescreen</PresentationFormat>
  <Paragraphs>77</Paragraphs>
  <Slides>11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9" baseType="lpstr">
      <vt:lpstr>Arial</vt:lpstr>
      <vt:lpstr>Calibri</vt:lpstr>
      <vt:lpstr>Century Gothic</vt:lpstr>
      <vt:lpstr>Helvetica;Arial</vt:lpstr>
      <vt:lpstr>Noto Sans CJK SC</vt:lpstr>
      <vt:lpstr>Times New Roman</vt:lpstr>
      <vt:lpstr>Wingdings 3</vt:lpstr>
      <vt:lpstr>Wisp</vt:lpstr>
      <vt:lpstr>Smart Lending Optimization System</vt:lpstr>
      <vt:lpstr>Contents</vt:lpstr>
      <vt:lpstr>Introduction</vt:lpstr>
      <vt:lpstr>Problem Statement</vt:lpstr>
      <vt:lpstr>Objectives</vt:lpstr>
      <vt:lpstr>Literature Review</vt:lpstr>
      <vt:lpstr>Literature Review</vt:lpstr>
      <vt:lpstr>Expected Outcome</vt:lpstr>
      <vt:lpstr>Conclusion</vt:lpstr>
      <vt:lpstr>References</vt:lpstr>
      <vt:lpstr>Thank You.!!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Dell</dc:creator>
  <cp:lastModifiedBy>ASUS</cp:lastModifiedBy>
  <cp:revision>13</cp:revision>
  <dcterms:created xsi:type="dcterms:W3CDTF">2026-03-09T09:59:45Z</dcterms:created>
  <dcterms:modified xsi:type="dcterms:W3CDTF">2026-03-09T15:36:46Z</dcterms:modified>
</cp:coreProperties>
</file>